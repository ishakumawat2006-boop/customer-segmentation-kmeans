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96528" y="-502920"/>
            <a:ext cx="4023360" cy="402336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8048" y="228600"/>
            <a:ext cx="2697480" cy="2697480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658368"/>
            <a:ext cx="1901952" cy="1901952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914400"/>
            <a:ext cx="82296" cy="4709160"/>
          </a:xfrm>
          <a:prstGeom prst="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685800"/>
            <a:ext cx="8595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1">
                <a:solidFill>
                  <a:srgbClr val="AEC8E2"/>
                </a:solidFill>
                <a:latin typeface="Aptos"/>
              </a:defRPr>
            </a:pPr>
            <a:r>
              <a:t>DATA MINING  •  UNSUPERVISED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170432"/>
            <a:ext cx="82296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Customer</a:t>
            </a:r>
            <a:br/>
            <a:r>
              <a:t>Segmentation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907792"/>
            <a:ext cx="795527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50" b="0">
                <a:solidFill>
                  <a:srgbClr val="C3D6E9"/>
                </a:solidFill>
                <a:latin typeface="Aptos"/>
              </a:defRPr>
            </a:pPr>
            <a:r>
              <a:t>K-Means Clustering on Online Retail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5" y="3447288"/>
            <a:ext cx="8595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CFDAE7"/>
                </a:solidFill>
                <a:latin typeface="Aptos"/>
              </a:defRPr>
            </a:pPr>
            <a:r>
              <a:t>UCI Online Retail Dataset  |  Orange Data Mining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4572000"/>
            <a:ext cx="5532120" cy="1078992"/>
          </a:xfrm>
          <a:prstGeom prst="roundRect">
            <a:avLst/>
          </a:prstGeom>
          <a:solidFill>
            <a:srgbClr val="162033"/>
          </a:solidFill>
          <a:ln>
            <a:solidFill>
              <a:srgbClr val="35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4773168"/>
            <a:ext cx="493776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Isha Kumawat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5138928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CD8E6"/>
                </a:solidFill>
                <a:latin typeface="Aptos"/>
              </a:defRPr>
            </a:pPr>
            <a:r>
              <a:t>3rd Year  •  CSAI  •  Section B  •  Roll No. 87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598932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BECDE0"/>
                </a:solidFill>
                <a:latin typeface="Aptos"/>
              </a:defRPr>
            </a:pPr>
            <a:r>
              <a:t>JECRC 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7AEC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01 •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Why customer segmentation?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The project turns raw purchase history into meaningful customer groups.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00200"/>
            <a:ext cx="64008" cy="2011680"/>
          </a:xfrm>
          <a:prstGeom prst="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64792"/>
            <a:ext cx="2944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103120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0B1220"/>
                </a:solidFill>
                <a:latin typeface="Aptos"/>
              </a:defRPr>
            </a:pPr>
            <a:r>
              <a:t>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42032"/>
            <a:ext cx="294436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B687A"/>
                </a:solidFill>
                <a:latin typeface="Aptos"/>
              </a:defRPr>
            </a:pPr>
            <a:r>
              <a:t>Find customers with similar purchasing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00200"/>
            <a:ext cx="34015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600200"/>
            <a:ext cx="64008" cy="2011680"/>
          </a:xfrm>
          <a:prstGeom prst="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764792"/>
            <a:ext cx="2944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ADC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0B1220"/>
                </a:solidFill>
                <a:latin typeface="Aptos"/>
              </a:defRPr>
            </a:pPr>
            <a: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42032"/>
            <a:ext cx="294436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B687A"/>
                </a:solidFill>
                <a:latin typeface="Aptos"/>
              </a:defRPr>
            </a:pPr>
            <a:r>
              <a:t>Compare segments using a common set of behavioral features.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4015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00200"/>
            <a:ext cx="64008" cy="2011680"/>
          </a:xfrm>
          <a:prstGeom prst="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64792"/>
            <a:ext cx="2944368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7A5BB9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03120"/>
            <a:ext cx="2944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0B1220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42032"/>
            <a:ext cx="2944368" cy="932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B687A"/>
                </a:solidFill>
                <a:latin typeface="Aptos"/>
              </a:defRPr>
            </a:pPr>
            <a:r>
              <a:t>Use the segments to support targeted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69080"/>
            <a:ext cx="10716768" cy="1234440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15968"/>
            <a:ext cx="1417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EC8E2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51960"/>
            <a:ext cx="8549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Identify meaningful customer segments using an unsupervised K-Means model.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92040" y="5532120"/>
            <a:ext cx="1234440" cy="310896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92040" y="5600700"/>
            <a:ext cx="12344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BEHAVIOR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532120"/>
            <a:ext cx="1234440" cy="310896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5600700"/>
            <a:ext cx="12344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CLUSTERS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5532120"/>
            <a:ext cx="1234440" cy="310896"/>
          </a:xfrm>
          <a:prstGeom prst="round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5600700"/>
            <a:ext cx="12344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02 •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The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A transaction-level retail dataset is transformed into customer-level behavior.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62763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F6842B"/>
                </a:solidFill>
                <a:latin typeface="Aptos"/>
              </a:defRPr>
            </a:pPr>
            <a:r>
              <a:t>541,909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5B687A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62763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5623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2DADC6"/>
                </a:solidFill>
                <a:latin typeface="Aptos"/>
              </a:defRPr>
            </a:pPr>
            <a:r>
              <a:t>4,372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44144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5B687A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1627632"/>
            <a:ext cx="2743200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0" y="1856231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400" b="1">
                <a:solidFill>
                  <a:srgbClr val="7A5BB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441448"/>
            <a:ext cx="2468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1">
                <a:solidFill>
                  <a:srgbClr val="5B687A"/>
                </a:solidFill>
                <a:latin typeface="Aptos"/>
              </a:defRPr>
            </a:pPr>
            <a:r>
              <a:t>original variables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01568"/>
            <a:ext cx="10698480" cy="1444752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675887"/>
            <a:ext cx="1828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ORIGINAL FIELDS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3621024"/>
            <a:ext cx="8183879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1">
                <a:solidFill>
                  <a:srgbClr val="0B1220"/>
                </a:solidFill>
                <a:latin typeface="Aptos"/>
              </a:defRPr>
            </a:pPr>
            <a:r>
              <a:t>InvoiceNo  •  StockCode  •  Description  •  Quantity</a:t>
            </a:r>
            <a:br/>
            <a:r>
              <a:t>InvoiceDate  •  UnitPrice  •  CustomerID  •  Country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230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20" b="0">
                <a:solidFill>
                  <a:srgbClr val="5B687A"/>
                </a:solidFill>
                <a:latin typeface="Aptos"/>
              </a:defRPr>
            </a:pPr>
            <a:r>
              <a:t>CustomerID becomes the grouping key, reducing 541,909 transactions to 4,372 customer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03 •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From raw transactions to customer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Complete Orange workflow — every node is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7406640" cy="486460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orkflow_complete_H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6199" y="1636776"/>
            <a:ext cx="5902960" cy="455371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75320" y="1481328"/>
            <a:ext cx="3246120" cy="486460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7072" y="1810512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EC8E2"/>
                </a:solidFill>
                <a:latin typeface="Aptos"/>
              </a:defRPr>
            </a:pPr>
            <a:r>
              <a:t>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13648" y="2221992"/>
            <a:ext cx="365760" cy="36576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13648" y="2304288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25712" y="2212848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FFFFFF"/>
                </a:solidFill>
                <a:latin typeface="Aptos"/>
              </a:defRPr>
            </a:pPr>
            <a:r>
              <a:t>PREPROCESS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5712" y="2468880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C2D0E1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13648" y="2926080"/>
            <a:ext cx="365760" cy="365760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3648" y="3008376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2916936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FFFFFF"/>
                </a:solidFill>
                <a:latin typeface="Aptos"/>
              </a:defRPr>
            </a:pPr>
            <a:r>
              <a:t>GROUP BY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172968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C2D0E1"/>
                </a:solidFill>
                <a:latin typeface="Aptos"/>
              </a:defRPr>
            </a:pPr>
            <a:r>
              <a:t>CustomerID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13648" y="3630168"/>
            <a:ext cx="365760" cy="365760"/>
          </a:xfrm>
          <a:prstGeom prst="round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3712464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3621024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FFFFFF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3877056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C2D0E1"/>
                </a:solidFill>
                <a:latin typeface="Aptos"/>
              </a:defRPr>
            </a:pPr>
            <a:r>
              <a:t>4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8" y="4334256"/>
            <a:ext cx="365760" cy="365760"/>
          </a:xfrm>
          <a:prstGeom prst="roundRect">
            <a:avLst/>
          </a:prstGeom>
          <a:solidFill>
            <a:srgbClr val="39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4416552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4325112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FFFFFF"/>
                </a:solidFill>
                <a:latin typeface="Aptos"/>
              </a:defRPr>
            </a:pPr>
            <a:r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5712" y="4581144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C2D0E1"/>
                </a:solidFill>
                <a:latin typeface="Aptos"/>
              </a:defRPr>
            </a:pPr>
            <a:r>
              <a:t>Standard 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13648" y="5038344"/>
            <a:ext cx="365760" cy="36576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13648" y="5120640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9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5029200"/>
            <a:ext cx="187451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FFFFFF"/>
                </a:solidFill>
                <a:latin typeface="Aptos"/>
              </a:defRPr>
            </a:pPr>
            <a:r>
              <a:t>K-MEANS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25712" y="5285231"/>
            <a:ext cx="187451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80" b="0">
                <a:solidFill>
                  <a:srgbClr val="C2D0E1"/>
                </a:solidFill>
                <a:latin typeface="Aptos"/>
              </a:defRPr>
            </a:pPr>
            <a:r>
              <a:t>3 clusters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77072" y="5742432"/>
            <a:ext cx="26517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EC8E2"/>
                </a:solidFill>
                <a:latin typeface="Aptos"/>
              </a:defRPr>
            </a:pPr>
            <a:r>
              <a:t>OUTPUT → customer-level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04 •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Build the customer-level feature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Four behavioral variables are retained for clustering.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72768"/>
            <a:ext cx="513892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773936"/>
            <a:ext cx="530352" cy="530352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773936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B1220"/>
                </a:solidFill>
                <a:latin typeface="Aptos"/>
              </a:defRPr>
            </a:pPr>
            <a:r>
              <a:t>Quantity - Sum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2176272"/>
            <a:ext cx="3886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Aptos"/>
              </a:defRPr>
            </a:pPr>
            <a:r>
              <a:t>Total quantity purchased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72768"/>
            <a:ext cx="513892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46520" y="1773936"/>
            <a:ext cx="530352" cy="530352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892807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773936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B1220"/>
                </a:solidFill>
                <a:latin typeface="Aptos"/>
              </a:defRPr>
            </a:pPr>
            <a:r>
              <a:t>UnitPrice -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9752" y="2176272"/>
            <a:ext cx="3886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Aptos"/>
              </a:defRPr>
            </a:pPr>
            <a:r>
              <a:t>Average unit price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513892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3401568"/>
            <a:ext cx="530352" cy="530352"/>
          </a:xfrm>
          <a:prstGeom prst="round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20440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34015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B1220"/>
                </a:solidFill>
                <a:latin typeface="Aptos"/>
              </a:defRPr>
            </a:pPr>
            <a:r>
              <a:t>InvoiceNo - Count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803904"/>
            <a:ext cx="3886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Aptos"/>
              </a:defRPr>
            </a:pPr>
            <a:r>
              <a:t>Transaction 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200400"/>
            <a:ext cx="5138928" cy="129844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46520" y="3401568"/>
            <a:ext cx="530352" cy="530352"/>
          </a:xfrm>
          <a:prstGeom prst="roundRect">
            <a:avLst/>
          </a:prstGeom>
          <a:solidFill>
            <a:srgbClr val="39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53035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3401568"/>
            <a:ext cx="3886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0B1220"/>
                </a:solidFill>
                <a:latin typeface="Aptos"/>
              </a:defRPr>
            </a:pPr>
            <a:r>
              <a:t>StockCode - Count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3803904"/>
            <a:ext cx="3886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5B687A"/>
                </a:solidFill>
                <a:latin typeface="Aptos"/>
              </a:defRPr>
            </a:pPr>
            <a:r>
              <a:t>Product-code count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56048"/>
            <a:ext cx="10671048" cy="804672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193792"/>
            <a:ext cx="10104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Normalize the four features so large numeric scales do not dominate K-Means distance calculations.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AC4E0"/>
                </a:solidFill>
                <a:latin typeface="Aptos"/>
              </a:defRPr>
            </a:pPr>
            <a:r>
              <a:t>05 •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K-Means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9D5E5"/>
                </a:solidFill>
                <a:latin typeface="Aptos"/>
              </a:defRPr>
            </a:pPr>
            <a:r>
              <a:t>Fixed K = 3 with standardized customer features.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7AEC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2926080" cy="3840480"/>
          </a:xfrm>
          <a:prstGeom prst="roundRect">
            <a:avLst/>
          </a:prstGeom>
          <a:solidFill>
            <a:srgbClr val="162033"/>
          </a:solidFill>
          <a:ln>
            <a:solidFill>
              <a:srgbClr val="37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847088"/>
            <a:ext cx="2423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FC7E0"/>
                </a:solidFill>
                <a:latin typeface="Aptos"/>
              </a:defRPr>
            </a:pPr>
            <a:r>
              <a:t>NUMBER OF CLUSTERS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286000"/>
            <a:ext cx="24231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F6842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273552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C1  •  C2  •  C3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858768"/>
            <a:ext cx="2423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0">
                <a:solidFill>
                  <a:srgbClr val="C6D3E2"/>
                </a:solidFill>
                <a:latin typeface="Aptos"/>
              </a:defRPr>
            </a:pPr>
            <a:r>
              <a:t>KMeans++ initialization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1554480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69080" y="1554480"/>
            <a:ext cx="64008" cy="1600200"/>
          </a:xfrm>
          <a:prstGeom prst="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719072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DADC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057400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0B1220"/>
                </a:solidFill>
                <a:latin typeface="Aptos"/>
              </a:defRPr>
            </a:pPr>
            <a:r>
              <a:t>RE-RUNS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49631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B687A"/>
                </a:solidFill>
                <a:latin typeface="Aptos"/>
              </a:defRPr>
            </a:pPr>
            <a:r>
              <a:t>10 runs for more stable initialization.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3456432"/>
            <a:ext cx="3337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69080" y="3456432"/>
            <a:ext cx="64008" cy="1600200"/>
          </a:xfrm>
          <a:prstGeom prst="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3621024"/>
            <a:ext cx="2880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7A5BB9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59352"/>
            <a:ext cx="28803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50" b="1">
                <a:solidFill>
                  <a:srgbClr val="0B1220"/>
                </a:solidFill>
                <a:latin typeface="Aptos"/>
              </a:defRPr>
            </a:pPr>
            <a:r>
              <a:t>MAX ITERATIONS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398264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70" b="0">
                <a:solidFill>
                  <a:srgbClr val="5B687A"/>
                </a:solidFill>
                <a:latin typeface="Aptos"/>
              </a:defRPr>
            </a:pPr>
            <a:r>
              <a:t>Up to 300 iterations for convergence.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1554480"/>
            <a:ext cx="3337560" cy="3502152"/>
          </a:xfrm>
          <a:prstGeom prst="roundRect">
            <a:avLst/>
          </a:prstGeom>
          <a:solidFill>
            <a:srgbClr val="162033"/>
          </a:solidFill>
          <a:ln>
            <a:solidFill>
              <a:srgbClr val="37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1847088"/>
            <a:ext cx="2788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FC7E0"/>
                </a:solidFill>
                <a:latin typeface="Aptos"/>
              </a:defRPr>
            </a:pPr>
            <a:r>
              <a:t>CLUSTER 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331720"/>
            <a:ext cx="278892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FFFFFF"/>
                </a:solidFill>
                <a:latin typeface="Aptos"/>
              </a:defRPr>
            </a:pPr>
            <a:r>
              <a:t>Quantity - Sum</a:t>
            </a:r>
            <a:br/>
            <a:r>
              <a:t>UnitPrice - Mean</a:t>
            </a:r>
            <a:br/>
            <a:r>
              <a:t>InvoiceNo - Count</a:t>
            </a:r>
            <a:br/>
            <a:r>
              <a:t>StockCode - Count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06 •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Cluster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Each customer is colored by its K-Means cluster.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352" y="1481328"/>
            <a:ext cx="7955279" cy="4773168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645920"/>
            <a:ext cx="7626096" cy="45079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732520" y="1481328"/>
            <a:ext cx="2816352" cy="477316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15984" y="1792224"/>
            <a:ext cx="2249424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AEC8E2"/>
                </a:solidFill>
                <a:latin typeface="Aptos"/>
              </a:defRPr>
            </a:pPr>
            <a:r>
              <a:t>CLUSTER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0848" y="2423160"/>
            <a:ext cx="457200" cy="457200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2432303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FFFFF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2697479"/>
            <a:ext cx="1554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CBD7E5"/>
                </a:solidFill>
                <a:latin typeface="Aptos"/>
              </a:defRPr>
            </a:pPr>
            <a:r>
              <a:t>baseline / regular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8" y="3337560"/>
            <a:ext cx="457200" cy="45720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3346703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FFFFF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3611879"/>
            <a:ext cx="1554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CBD7E5"/>
                </a:solidFill>
                <a:latin typeface="Aptos"/>
              </a:defRPr>
            </a:pPr>
            <a:r>
              <a:t>high-volume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0848" y="4251960"/>
            <a:ext cx="457200" cy="457200"/>
          </a:xfrm>
          <a:prstGeom prst="roundRect">
            <a:avLst/>
          </a:prstGeom>
          <a:solidFill>
            <a:srgbClr val="39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4261104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50" b="1">
                <a:solidFill>
                  <a:srgbClr val="FFFFFF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4526280"/>
            <a:ext cx="1554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60" b="0">
                <a:solidFill>
                  <a:srgbClr val="CBD7E5"/>
                </a:solidFill>
                <a:latin typeface="Aptos"/>
              </a:defRPr>
            </a:pPr>
            <a:r>
              <a:t>high-value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34272" y="5376672"/>
            <a:ext cx="2240280" cy="530352"/>
          </a:xfrm>
          <a:prstGeom prst="roundRect">
            <a:avLst/>
          </a:prstGeom>
          <a:solidFill>
            <a:srgbClr val="162033"/>
          </a:solidFill>
          <a:ln>
            <a:solidFill>
              <a:srgbClr val="37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34272" y="5504688"/>
            <a:ext cx="22402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Aptos"/>
              </a:defRPr>
            </a:pPr>
            <a:r>
              <a:t>X: Quantity  •  Y: UnitPrice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07 •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Cluster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The cluster centers show the dominant purchasing behavior of each segment.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7726679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8_cluster_summary_table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36159"/>
            <a:ext cx="7360920" cy="30635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85632" y="1481328"/>
            <a:ext cx="3054096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59952" y="1773936"/>
            <a:ext cx="250545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6842B"/>
                </a:solidFill>
                <a:latin typeface="Aptos"/>
              </a:defRPr>
            </a:pPr>
            <a:r>
              <a:t>KEY DIFFERENCES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59952" y="2304288"/>
            <a:ext cx="2505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50" b="1">
                <a:solidFill>
                  <a:srgbClr val="2DADC6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9952" y="2633472"/>
            <a:ext cx="25054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>
                <a:solidFill>
                  <a:srgbClr val="5B687A"/>
                </a:solidFill>
                <a:latin typeface="Aptos"/>
              </a:defRPr>
            </a:pPr>
            <a:r>
              <a:t>Near the standardized average.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9952" y="3264408"/>
            <a:ext cx="2505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50" b="1">
                <a:solidFill>
                  <a:srgbClr val="F6842B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9952" y="3593592"/>
            <a:ext cx="25054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>
                <a:solidFill>
                  <a:srgbClr val="5B687A"/>
                </a:solidFill>
                <a:latin typeface="Aptos"/>
              </a:defRPr>
            </a:pPr>
            <a:r>
              <a:t>Very high quantity and count measures.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9952" y="4224528"/>
            <a:ext cx="25054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50" b="1">
                <a:solidFill>
                  <a:srgbClr val="7A5BB9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9952" y="4553712"/>
            <a:ext cx="2505456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19" b="0">
                <a:solidFill>
                  <a:srgbClr val="5B687A"/>
                </a:solidFill>
                <a:latin typeface="Aptos"/>
              </a:defRPr>
            </a:pPr>
            <a:r>
              <a:t>Very high average unit-price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96528" y="5321808"/>
            <a:ext cx="2432304" cy="47548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5449824"/>
            <a:ext cx="2432304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3 clusters  •  4,372 customers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08 •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Customer assignments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Each customer receives a cluster label and silhouette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271016"/>
            <a:ext cx="8028431" cy="5010912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lu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576" y="1353312"/>
            <a:ext cx="5752542" cy="4846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705088" y="1417320"/>
            <a:ext cx="2834640" cy="4773168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79408" y="1737360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6842B"/>
                </a:solidFill>
                <a:latin typeface="Aptos"/>
              </a:defRPr>
            </a:pPr>
            <a:r>
              <a:t>OUTPUT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9408" y="2286000"/>
            <a:ext cx="2286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0B1220"/>
                </a:solidFill>
                <a:latin typeface="Aptos"/>
              </a:defRPr>
            </a:pPr>
            <a:r>
              <a:t>4,372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2798064"/>
            <a:ext cx="22860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80" b="0">
                <a:solidFill>
                  <a:srgbClr val="5B687A"/>
                </a:solidFill>
                <a:latin typeface="Aptos"/>
              </a:defRPr>
            </a:pPr>
            <a:r>
              <a:t>customer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8" y="340156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50" b="1">
                <a:solidFill>
                  <a:srgbClr val="7A5BB9"/>
                </a:solidFill>
                <a:latin typeface="Aptos"/>
              </a:defRPr>
            </a:pPr>
            <a:r>
              <a:t>C1  •  C2  •  C3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79408" y="4069080"/>
            <a:ext cx="2286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30" b="0">
                <a:solidFill>
                  <a:srgbClr val="5B687A"/>
                </a:solidFill>
                <a:latin typeface="Aptos"/>
              </a:defRPr>
            </a:pPr>
            <a:r>
              <a:t>The output keeps the cluster label and an individual silhouette value for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92608"/>
            <a:ext cx="10698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AEC8E2"/>
                </a:solidFill>
                <a:latin typeface="Aptos"/>
              </a:defRPr>
            </a:pPr>
            <a:r>
              <a:t>09 •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5216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Silhouette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80" b="0">
                <a:solidFill>
                  <a:srgbClr val="CAD7E5"/>
                </a:solidFill>
                <a:latin typeface="Aptos"/>
              </a:defRPr>
            </a:pPr>
            <a:r>
              <a:t>Full Orange screenshot — ChatGPT and the red annotation are removed.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7818120" cy="4828032"/>
          </a:xfrm>
          <a:prstGeom prst="roundRect">
            <a:avLst/>
          </a:prstGeom>
          <a:solidFill>
            <a:srgbClr val="FFFFFF"/>
          </a:solidFill>
          <a:ln>
            <a:solidFill>
              <a:srgbClr val="435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lide10_ORANGE_ONLY_no_chat_no_red_H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71928" y="1645920"/>
            <a:ext cx="3998975" cy="44988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13648" y="1481328"/>
            <a:ext cx="2907792" cy="4828032"/>
          </a:xfrm>
          <a:prstGeom prst="roundRect">
            <a:avLst/>
          </a:prstGeom>
          <a:solidFill>
            <a:srgbClr val="162033"/>
          </a:solidFill>
          <a:ln>
            <a:solidFill>
              <a:srgbClr val="435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1792224"/>
            <a:ext cx="2340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AEC8E2"/>
                </a:solidFill>
                <a:latin typeface="Aptos"/>
              </a:defRPr>
            </a:pPr>
            <a:r>
              <a:t>CLUSTER SCORES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233172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95144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2DADC6"/>
                </a:solidFill>
                <a:latin typeface="Aptos"/>
              </a:defRPr>
            </a:pPr>
            <a:r>
              <a:t>0.749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2832" y="340156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364992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F6842B"/>
                </a:solidFill>
                <a:latin typeface="Aptos"/>
              </a:defRPr>
            </a:pPr>
            <a:r>
              <a:t>≈ 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42832" y="447141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434840"/>
            <a:ext cx="15727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100" b="1">
                <a:solidFill>
                  <a:srgbClr val="7A5BB9"/>
                </a:solidFill>
                <a:latin typeface="Aptos"/>
              </a:defRPr>
            </a:pPr>
            <a:r>
              <a:t>0.326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422392"/>
            <a:ext cx="23957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10" b="0">
                <a:solidFill>
                  <a:srgbClr val="CAD7E5"/>
                </a:solidFill>
                <a:latin typeface="Aptos"/>
              </a:defRPr>
            </a:pPr>
            <a:r>
              <a:t>C1 • strong separation</a:t>
            </a:r>
            <a:br/>
            <a:r>
              <a:t>C2 • weak separation</a:t>
            </a:r>
            <a:br/>
            <a:r>
              <a:t>C3 • moderate separation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97AECA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6842B"/>
                </a:solidFill>
                <a:latin typeface="Aptos"/>
              </a:defRPr>
            </a:pPr>
            <a:r>
              <a:t>10 •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B1220"/>
                </a:solidFill>
                <a:latin typeface="Aptos"/>
              </a:defRPr>
            </a:pPr>
            <a:r>
              <a:t>What do the clusters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5B687A"/>
                </a:solidFill>
                <a:latin typeface="Aptos"/>
              </a:defRPr>
            </a:pPr>
            <a:r>
              <a:t>Translate model output into a simple customer story.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B687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572768"/>
            <a:ext cx="349300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572768"/>
            <a:ext cx="3493008" cy="91440"/>
          </a:xfrm>
          <a:prstGeom prst="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470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DADC6"/>
                </a:solidFill>
                <a:latin typeface="Aptos"/>
              </a:defRPr>
            </a:pPr>
            <a:r>
              <a:t>C1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871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0B1220"/>
                </a:solidFill>
                <a:latin typeface="Aptos"/>
              </a:defRPr>
            </a:pPr>
            <a:r>
              <a:t>REGULAR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279806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B687A"/>
                </a:solidFill>
                <a:latin typeface="Aptos"/>
              </a:defRPr>
            </a:pPr>
            <a:r>
              <a:t>Relatively average purchasing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52728" y="4754880"/>
            <a:ext cx="2304288" cy="5486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4901184"/>
            <a:ext cx="23042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0B1220"/>
                </a:solidFill>
                <a:latin typeface="Aptos"/>
              </a:defRPr>
            </a:pPr>
            <a:r>
              <a:t>RETENTION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1572768"/>
            <a:ext cx="349300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98848" y="1572768"/>
            <a:ext cx="3493008" cy="91440"/>
          </a:xfrm>
          <a:prstGeom prst="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18470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F6842B"/>
                </a:solidFill>
                <a:latin typeface="Aptos"/>
              </a:defRPr>
            </a:pPr>
            <a:r>
              <a:t>C2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4871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0B1220"/>
                </a:solidFill>
                <a:latin typeface="Aptos"/>
              </a:defRPr>
            </a:pPr>
            <a:r>
              <a:t>HIGH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154680"/>
            <a:ext cx="279806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B687A"/>
                </a:solidFill>
                <a:latin typeface="Aptos"/>
              </a:defRPr>
            </a:pPr>
            <a:r>
              <a:t>Very high quantity and count measures.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93208" y="4754880"/>
            <a:ext cx="2304288" cy="5486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8" y="4901184"/>
            <a:ext cx="23042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0B1220"/>
                </a:solidFill>
                <a:latin typeface="Aptos"/>
              </a:defRPr>
            </a:pPr>
            <a:r>
              <a:t>BULK / PRIORITY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39328" y="1572768"/>
            <a:ext cx="3493008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A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9328" y="1572768"/>
            <a:ext cx="3493008" cy="91440"/>
          </a:xfrm>
          <a:prstGeom prst="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1847088"/>
            <a:ext cx="294436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7A5BB9"/>
                </a:solidFill>
                <a:latin typeface="Aptos"/>
              </a:defRPr>
            </a:pPr>
            <a:r>
              <a:t>C3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487168"/>
            <a:ext cx="2944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0B1220"/>
                </a:solidFill>
                <a:latin typeface="Aptos"/>
              </a:defRPr>
            </a:pPr>
            <a:r>
              <a:t>HIGH 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154680"/>
            <a:ext cx="2798064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5B687A"/>
                </a:solidFill>
                <a:latin typeface="Aptos"/>
              </a:defRPr>
            </a:pPr>
            <a:r>
              <a:t>Very high average unit-price value.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3688" y="4754880"/>
            <a:ext cx="2304288" cy="548640"/>
          </a:xfrm>
          <a:prstGeom prst="roundRect">
            <a:avLst/>
          </a:prstGeom>
          <a:solidFill>
            <a:srgbClr val="EE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3688" y="4901184"/>
            <a:ext cx="23042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19" b="1">
                <a:solidFill>
                  <a:srgbClr val="0B1220"/>
                </a:solidFill>
                <a:latin typeface="Aptos"/>
              </a:defRPr>
            </a:pPr>
            <a:r>
              <a:t>PREMIUM / PERSONALIZE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AAC4E0"/>
                </a:solidFill>
                <a:latin typeface="Aptos"/>
              </a:defRPr>
            </a:pPr>
            <a:r>
              <a:t>11 •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698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"/>
              </a:defRPr>
            </a:pPr>
            <a:r>
              <a:t>From data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69848"/>
            <a:ext cx="1056132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C9D5E5"/>
                </a:solidFill>
                <a:latin typeface="Aptos"/>
              </a:defRPr>
            </a:pPr>
            <a:r>
              <a:t>The project demonstrates an end-to-end customer segmentation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97AEC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81328"/>
            <a:ext cx="6812280" cy="4480560"/>
          </a:xfrm>
          <a:prstGeom prst="roundRect">
            <a:avLst/>
          </a:prstGeom>
          <a:solidFill>
            <a:srgbClr val="162033"/>
          </a:solidFill>
          <a:ln>
            <a:solidFill>
              <a:srgbClr val="374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810512"/>
            <a:ext cx="365760" cy="365760"/>
          </a:xfrm>
          <a:prstGeom prst="roundRect">
            <a:avLst/>
          </a:prstGeom>
          <a:solidFill>
            <a:srgbClr val="2DAD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92807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1792224"/>
            <a:ext cx="54864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FFFFFF"/>
                </a:solidFill>
                <a:latin typeface="Aptos"/>
              </a:defRPr>
            </a:pPr>
            <a:r>
              <a:t>541,909 transactions were reduced to 4,372 customer-level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532888"/>
            <a:ext cx="365760" cy="36576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615184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514600"/>
            <a:ext cx="54864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FFFFFF"/>
                </a:solidFill>
                <a:latin typeface="Aptos"/>
              </a:defRPr>
            </a:pPr>
            <a:r>
              <a:t>Four purchasing-behavior features were standardized for clustering.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255264"/>
            <a:ext cx="365760" cy="365760"/>
          </a:xfrm>
          <a:prstGeom prst="roundRect">
            <a:avLst/>
          </a:prstGeom>
          <a:solidFill>
            <a:srgbClr val="7A5B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337560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3236976"/>
            <a:ext cx="54864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FFFFFF"/>
                </a:solidFill>
                <a:latin typeface="Aptos"/>
              </a:defRPr>
            </a:pPr>
            <a:r>
              <a:t>K-Means divided customers into three segments.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977639"/>
            <a:ext cx="365760" cy="365760"/>
          </a:xfrm>
          <a:prstGeom prst="roundRect">
            <a:avLst/>
          </a:prstGeom>
          <a:solidFill>
            <a:srgbClr val="39A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059935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59352"/>
            <a:ext cx="54864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FFFFFF"/>
                </a:solidFill>
                <a:latin typeface="Aptos"/>
              </a:defRPr>
            </a:pPr>
            <a:r>
              <a:t>Silhouette scores reveal strong, moderate and weak separation.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" y="4700016"/>
            <a:ext cx="365760" cy="365760"/>
          </a:xfrm>
          <a:prstGeom prst="roundRect">
            <a:avLst/>
          </a:prstGeom>
          <a:solidFill>
            <a:srgbClr val="F6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782312"/>
            <a:ext cx="3657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681728"/>
            <a:ext cx="5486400" cy="484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80" b="0">
                <a:solidFill>
                  <a:srgbClr val="FFFFFF"/>
                </a:solidFill>
                <a:latin typeface="Aptos"/>
              </a:defRPr>
            </a:pPr>
            <a:r>
              <a:t>The resulting segments can guide targeted customer strategies.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60" y="1481328"/>
            <a:ext cx="3520440" cy="4480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1847088"/>
            <a:ext cx="2834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6842B"/>
                </a:solidFill>
                <a:latin typeface="Aptos"/>
              </a:defRPr>
            </a:pPr>
            <a:r>
              <a:t>FINAL 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395728"/>
            <a:ext cx="2880360" cy="1600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0B1220"/>
                </a:solidFill>
                <a:latin typeface="Aptos"/>
              </a:defRPr>
            </a:pPr>
            <a:r>
              <a:t>DATA</a:t>
            </a:r>
            <a:br/>
            <a:r>
              <a:t>↓</a:t>
            </a:r>
            <a:br/>
            <a:r>
              <a:t>PATTERNS</a:t>
            </a:r>
            <a:br/>
            <a:r>
              <a:t>↓</a:t>
            </a:r>
            <a:br/>
            <a:r>
              <a:t>SEGMENTS</a:t>
            </a:r>
            <a:br/>
            <a:r>
              <a:t>↓</a:t>
            </a:r>
            <a:br/>
            <a:r>
              <a:t>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4389120"/>
            <a:ext cx="28346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0">
                <a:solidFill>
                  <a:srgbClr val="5B687A"/>
                </a:solidFill>
                <a:latin typeface="Aptos"/>
              </a:defRPr>
            </a:pPr>
            <a:r>
              <a:t>Customer segmentation turns transaction history into actionable insight.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5349240"/>
            <a:ext cx="1325880" cy="384048"/>
          </a:xfrm>
          <a:prstGeom prst="round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5449824"/>
            <a:ext cx="132588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8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